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Roboto" panose="02000000000000000000" pitchFamily="2" charset="0"/>
      <p:regular r:id="rId17"/>
    </p:embeddedFont>
    <p:embeddedFont>
      <p:font typeface="Roboto Mono Medium" panose="00000009000000000000" pitchFamily="49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2799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261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AURA RETAIL 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51553"/>
            <a:ext cx="130428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DCFF5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Autonomous Modular Smart-City Retail Infrastructure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793790" y="424815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IT620 | OOP Project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866203"/>
            <a:ext cx="4196358" cy="680442"/>
          </a:xfrm>
          <a:prstGeom prst="roundRect">
            <a:avLst>
              <a:gd name="adj" fmla="val 480029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20604" y="5773460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Path B: Modular Hardware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216962" y="4866203"/>
            <a:ext cx="4196358" cy="680442"/>
          </a:xfrm>
          <a:prstGeom prst="roundRect">
            <a:avLst>
              <a:gd name="adj" fmla="val 480029"/>
            </a:avLst>
          </a:prstGeom>
          <a:solidFill>
            <a:srgbClr val="404040"/>
          </a:solidFill>
          <a:ln/>
        </p:spPr>
      </p:sp>
      <p:sp>
        <p:nvSpPr>
          <p:cNvPr id="8" name="Text 6"/>
          <p:cNvSpPr/>
          <p:nvPr/>
        </p:nvSpPr>
        <p:spPr>
          <a:xfrm>
            <a:off x="5443776" y="5773460"/>
            <a:ext cx="30609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10 Design Patterns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640133" y="4866203"/>
            <a:ext cx="4196358" cy="680442"/>
          </a:xfrm>
          <a:prstGeom prst="roundRect">
            <a:avLst>
              <a:gd name="adj" fmla="val 480029"/>
            </a:avLst>
          </a:prstGeom>
          <a:solidFill>
            <a:srgbClr val="404040"/>
          </a:solidFill>
          <a:ln/>
        </p:spPr>
      </p:sp>
      <p:sp>
        <p:nvSpPr>
          <p:cNvPr id="10" name="Text 8"/>
          <p:cNvSpPr/>
          <p:nvPr/>
        </p:nvSpPr>
        <p:spPr>
          <a:xfrm>
            <a:off x="9866948" y="57734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 Kiosk Types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3790" y="696408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Code Crafters | IT620 Object-Oriented Programming | Zephyrus Smart City Initiative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63923"/>
            <a:ext cx="57841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39678"/>
            <a:ext cx="387858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DCFF5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Zephyrus Smart City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79178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Autonomous retail kiosks deployed across: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58759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🏥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Hospitals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🚇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Metro Stations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🎓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University Campuses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🆘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Disaster Zones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139678"/>
            <a:ext cx="449091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DCFF5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Aura-Kiosk v1.0 Issues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599521" y="3791783"/>
            <a:ext cx="6244709" cy="249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Hardware Changes — Rewriting large code sections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Payment Vendors — Incompatible APIs across providers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Gaps — Inconsistent checks across kiosk types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 Failures — Inventory &amp; transaction inconsistency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Dynamic Features — Refrigeration / solar not addable at runtime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604361"/>
            <a:ext cx="5757386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SYSTEM ARCHITECTURE</a:t>
            </a:r>
            <a:endParaRPr lang="en-US" sz="3950" dirty="0"/>
          </a:p>
        </p:txBody>
      </p:sp>
      <p:sp>
        <p:nvSpPr>
          <p:cNvPr id="3" name="Shape 1"/>
          <p:cNvSpPr/>
          <p:nvPr/>
        </p:nvSpPr>
        <p:spPr>
          <a:xfrm>
            <a:off x="706993" y="1595438"/>
            <a:ext cx="6518196" cy="1918811"/>
          </a:xfrm>
          <a:prstGeom prst="roundRect">
            <a:avLst>
              <a:gd name="adj" fmla="val 1579"/>
            </a:avLst>
          </a:prstGeom>
          <a:solidFill>
            <a:srgbClr val="404040"/>
          </a:solidFill>
          <a:ln/>
        </p:spPr>
      </p:sp>
      <p:sp>
        <p:nvSpPr>
          <p:cNvPr id="4" name="Shape 2"/>
          <p:cNvSpPr/>
          <p:nvPr/>
        </p:nvSpPr>
        <p:spPr>
          <a:xfrm>
            <a:off x="908923" y="1797368"/>
            <a:ext cx="606028" cy="606028"/>
          </a:xfrm>
          <a:prstGeom prst="roundRect">
            <a:avLst>
              <a:gd name="adj" fmla="val 15086903"/>
            </a:avLst>
          </a:prstGeom>
          <a:solidFill>
            <a:srgbClr val="DCFF5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5611" y="1963936"/>
            <a:ext cx="272653" cy="2726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8923" y="2583299"/>
            <a:ext cx="2575084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Kiosk Core System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08923" y="3006804"/>
            <a:ext cx="611433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KioskInterface (Facade Pattern)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405092" y="1595438"/>
            <a:ext cx="6518315" cy="1918811"/>
          </a:xfrm>
          <a:prstGeom prst="roundRect">
            <a:avLst>
              <a:gd name="adj" fmla="val 1579"/>
            </a:avLst>
          </a:prstGeom>
          <a:solidFill>
            <a:srgbClr val="404040"/>
          </a:solidFill>
          <a:ln/>
        </p:spPr>
      </p:sp>
      <p:sp>
        <p:nvSpPr>
          <p:cNvPr id="9" name="Shape 6"/>
          <p:cNvSpPr/>
          <p:nvPr/>
        </p:nvSpPr>
        <p:spPr>
          <a:xfrm>
            <a:off x="7607022" y="1797368"/>
            <a:ext cx="606028" cy="606028"/>
          </a:xfrm>
          <a:prstGeom prst="roundRect">
            <a:avLst>
              <a:gd name="adj" fmla="val 15086903"/>
            </a:avLst>
          </a:prstGeom>
          <a:solidFill>
            <a:srgbClr val="DCFF5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3710" y="1963936"/>
            <a:ext cx="272653" cy="27265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07022" y="2583299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Inventory System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7607022" y="3006804"/>
            <a:ext cx="6114455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Products &amp; Bundles (Composite + Proxy)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706993" y="3694152"/>
            <a:ext cx="6518196" cy="1918811"/>
          </a:xfrm>
          <a:prstGeom prst="roundRect">
            <a:avLst>
              <a:gd name="adj" fmla="val 1579"/>
            </a:avLst>
          </a:prstGeom>
          <a:solidFill>
            <a:srgbClr val="404040"/>
          </a:solidFill>
          <a:ln/>
        </p:spPr>
      </p:sp>
      <p:sp>
        <p:nvSpPr>
          <p:cNvPr id="14" name="Shape 10"/>
          <p:cNvSpPr/>
          <p:nvPr/>
        </p:nvSpPr>
        <p:spPr>
          <a:xfrm>
            <a:off x="908923" y="3896082"/>
            <a:ext cx="606028" cy="606028"/>
          </a:xfrm>
          <a:prstGeom prst="roundRect">
            <a:avLst>
              <a:gd name="adj" fmla="val 15086903"/>
            </a:avLst>
          </a:prstGeom>
          <a:solidFill>
            <a:srgbClr val="DCFF5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5611" y="4062651"/>
            <a:ext cx="272653" cy="27265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8923" y="4682014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Payment System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08923" y="5105519"/>
            <a:ext cx="6114336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Multi-Provider (Adapter Pattern)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7405092" y="3694152"/>
            <a:ext cx="6518315" cy="1918811"/>
          </a:xfrm>
          <a:prstGeom prst="roundRect">
            <a:avLst>
              <a:gd name="adj" fmla="val 1579"/>
            </a:avLst>
          </a:prstGeom>
          <a:solidFill>
            <a:srgbClr val="404040"/>
          </a:solidFill>
          <a:ln/>
        </p:spPr>
      </p:sp>
      <p:sp>
        <p:nvSpPr>
          <p:cNvPr id="19" name="Shape 14"/>
          <p:cNvSpPr/>
          <p:nvPr/>
        </p:nvSpPr>
        <p:spPr>
          <a:xfrm>
            <a:off x="7607022" y="3896082"/>
            <a:ext cx="606028" cy="606028"/>
          </a:xfrm>
          <a:prstGeom prst="roundRect">
            <a:avLst>
              <a:gd name="adj" fmla="val 15086903"/>
            </a:avLst>
          </a:prstGeom>
          <a:solidFill>
            <a:srgbClr val="DCFF5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73710" y="4062651"/>
            <a:ext cx="272653" cy="27265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07022" y="4682014"/>
            <a:ext cx="3029545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Hardware Abstraction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7607022" y="5105519"/>
            <a:ext cx="6114455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Bridge Pattern</a:t>
            </a:r>
            <a:endParaRPr lang="en-US" sz="1550" dirty="0"/>
          </a:p>
        </p:txBody>
      </p:sp>
      <p:sp>
        <p:nvSpPr>
          <p:cNvPr id="23" name="Shape 17"/>
          <p:cNvSpPr/>
          <p:nvPr/>
        </p:nvSpPr>
        <p:spPr>
          <a:xfrm>
            <a:off x="706993" y="5815370"/>
            <a:ext cx="13216414" cy="1301948"/>
          </a:xfrm>
          <a:prstGeom prst="roundRect">
            <a:avLst>
              <a:gd name="adj" fmla="val 2327"/>
            </a:avLst>
          </a:prstGeom>
          <a:solidFill>
            <a:srgbClr val="3D4D00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923" y="6076355"/>
            <a:ext cx="315635" cy="25241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26488" y="6045756"/>
            <a:ext cx="5918835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⚙</a:t>
            </a:r>
            <a:r>
              <a:rPr lang="en-US" sz="19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CENTRAL REGISTRY (Singleton Pattern)</a:t>
            </a:r>
            <a:endParaRPr lang="en-US" sz="1950" dirty="0"/>
          </a:p>
        </p:txBody>
      </p:sp>
      <p:sp>
        <p:nvSpPr>
          <p:cNvPr id="26" name="Text 19"/>
          <p:cNvSpPr/>
          <p:nvPr/>
        </p:nvSpPr>
        <p:spPr>
          <a:xfrm>
            <a:off x="1426488" y="6548914"/>
            <a:ext cx="12294989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Global config • System status • Kiosk registry • Emergency mode control</a:t>
            </a:r>
            <a:endParaRPr lang="en-US" sz="1550" dirty="0"/>
          </a:p>
        </p:txBody>
      </p:sp>
      <p:sp>
        <p:nvSpPr>
          <p:cNvPr id="27" name="Text 20"/>
          <p:cNvSpPr/>
          <p:nvPr/>
        </p:nvSpPr>
        <p:spPr>
          <a:xfrm>
            <a:off x="706993" y="7319724"/>
            <a:ext cx="13216414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PERSISTENCE LAYER</a:t>
            </a: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JSON Files: inventory.json · transactions.json · config.json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3737" y="534114"/>
            <a:ext cx="7815143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10 DESIGN PATTERNS IMPLEMENTED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323737" y="1342668"/>
            <a:ext cx="11982807" cy="6352699"/>
          </a:xfrm>
          <a:prstGeom prst="roundRect">
            <a:avLst>
              <a:gd name="adj" fmla="val 41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31357" y="1350288"/>
            <a:ext cx="11967567" cy="42005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505069" y="1437680"/>
            <a:ext cx="3239214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99090" y="1437680"/>
            <a:ext cx="203870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2603" y="1437680"/>
            <a:ext cx="5632728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Description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331357" y="1770340"/>
            <a:ext cx="11967567" cy="6653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505069" y="1857732"/>
            <a:ext cx="3239214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Abstract Factory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99090" y="1857732"/>
            <a:ext cx="203870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Creational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492603" y="1857732"/>
            <a:ext cx="5632728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Creates compatible FoodKiosk, PharmacyKiosk, EmergencyKiosk component families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331357" y="2435662"/>
            <a:ext cx="11967567" cy="42005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505069" y="2523053"/>
            <a:ext cx="3239214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Singleton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99090" y="2523053"/>
            <a:ext cx="203870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Creational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492603" y="2523053"/>
            <a:ext cx="5632728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CentralRegistry — single source of truth for system state &amp; config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331357" y="2855714"/>
            <a:ext cx="11967567" cy="6653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505069" y="2943106"/>
            <a:ext cx="3239214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Bridge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99090" y="2943106"/>
            <a:ext cx="203870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492603" y="2943106"/>
            <a:ext cx="5632728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Separates kiosk logic from hardware; swap Spiral/Robotic/Conveyor with zero code changes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331357" y="3521035"/>
            <a:ext cx="11967567" cy="42005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505069" y="3608427"/>
            <a:ext cx="3239214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Decorator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99090" y="3608427"/>
            <a:ext cx="203870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92603" y="3608427"/>
            <a:ext cx="5632728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Attaches Refrigeration, Solar, Network modules to kiosks at runtime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331357" y="3941088"/>
            <a:ext cx="11967567" cy="42005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505069" y="4028480"/>
            <a:ext cx="3239214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Facade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99090" y="4028480"/>
            <a:ext cx="203870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492603" y="4028480"/>
            <a:ext cx="5632728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KioskInterface simplifies: purchaseItem, refund, diagnostics, restock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331357" y="4361140"/>
            <a:ext cx="11967567" cy="6653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505069" y="4448532"/>
            <a:ext cx="3239214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Adapter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099090" y="4448532"/>
            <a:ext cx="203870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7492603" y="4448532"/>
            <a:ext cx="5632728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Unifies CreditCard, UPI, DigitalWallet under one PaymentProcessor interface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1331357" y="5026462"/>
            <a:ext cx="11967567" cy="6653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505069" y="5113853"/>
            <a:ext cx="3239214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Composite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099090" y="5113853"/>
            <a:ext cx="203870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492603" y="5113853"/>
            <a:ext cx="5632728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Inventory bundles (EmergencyKit) nest other bundles; availability cascades up tree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1331357" y="5691783"/>
            <a:ext cx="11967567" cy="6653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505069" y="5779175"/>
            <a:ext cx="3239214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Proxy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099090" y="5779175"/>
            <a:ext cx="203870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Behavioral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492603" y="5779175"/>
            <a:ext cx="5632728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Wraps inventory with authorization, logging, and emergency-mode access control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1331357" y="6357104"/>
            <a:ext cx="11967567" cy="66532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505069" y="6444496"/>
            <a:ext cx="3239214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Command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5099090" y="6444496"/>
            <a:ext cx="203870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Behavioral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7492603" y="6444496"/>
            <a:ext cx="5632728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PurchaseItemCommand encapsulates buy ops; enables logging, undo, atomic rollback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1331357" y="7022425"/>
            <a:ext cx="11967567" cy="66532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505069" y="7109817"/>
            <a:ext cx="3239214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Strategy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5099090" y="7109817"/>
            <a:ext cx="203870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Behavioral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7492603" y="7109817"/>
            <a:ext cx="5632728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Swappable dispensing strategies: ConveyorStrategy, SpiralStrategy, RoboticStrategy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16148"/>
            <a:ext cx="10718602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KIOSK FACTORY + HARDWARE MODULES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1407" y="1401723"/>
            <a:ext cx="4687372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Abstract Factory + Decorator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781407" y="2080260"/>
            <a:ext cx="4209336" cy="3225998"/>
          </a:xfrm>
          <a:prstGeom prst="roundRect">
            <a:avLst>
              <a:gd name="adj" fmla="val 1038"/>
            </a:avLst>
          </a:prstGeom>
          <a:solidFill>
            <a:srgbClr val="404040"/>
          </a:solidFill>
          <a:ln/>
        </p:spPr>
      </p:sp>
      <p:sp>
        <p:nvSpPr>
          <p:cNvPr id="5" name="Text 3"/>
          <p:cNvSpPr/>
          <p:nvPr/>
        </p:nvSpPr>
        <p:spPr>
          <a:xfrm>
            <a:off x="1004649" y="2303502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FoodKiosk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1004649" y="2784158"/>
            <a:ext cx="37628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KIOSK-F01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04649" y="3270290"/>
            <a:ext cx="37628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Dispenser: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ConveyorDispenser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04649" y="3756422"/>
            <a:ext cx="37628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Pricing: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DynamicPricing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04649" y="4242554"/>
            <a:ext cx="37628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Policy: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PerishableInventory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004649" y="4728686"/>
            <a:ext cx="37628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Verify: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ExpiryVerification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5210532" y="2080260"/>
            <a:ext cx="4209336" cy="3225998"/>
          </a:xfrm>
          <a:prstGeom prst="roundRect">
            <a:avLst>
              <a:gd name="adj" fmla="val 1038"/>
            </a:avLst>
          </a:prstGeom>
          <a:solidFill>
            <a:srgbClr val="404040"/>
          </a:solidFill>
          <a:ln/>
        </p:spPr>
      </p:sp>
      <p:sp>
        <p:nvSpPr>
          <p:cNvPr id="12" name="Text 10"/>
          <p:cNvSpPr/>
          <p:nvPr/>
        </p:nvSpPr>
        <p:spPr>
          <a:xfrm>
            <a:off x="5433774" y="2303502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PharmacyKiosk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5433774" y="2784158"/>
            <a:ext cx="37628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KIOSK-P01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433774" y="3270290"/>
            <a:ext cx="37628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Dispenser: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SpiralDispenser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5433774" y="3756422"/>
            <a:ext cx="37628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Pricing: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StandardPricing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5433774" y="4242554"/>
            <a:ext cx="37628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Policy: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ControlledInventory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5433774" y="4728686"/>
            <a:ext cx="37628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Verify: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PrescriptionVerification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9639657" y="2080260"/>
            <a:ext cx="4209336" cy="3225998"/>
          </a:xfrm>
          <a:prstGeom prst="roundRect">
            <a:avLst>
              <a:gd name="adj" fmla="val 1038"/>
            </a:avLst>
          </a:prstGeom>
          <a:solidFill>
            <a:srgbClr val="404040"/>
          </a:solidFill>
          <a:ln/>
        </p:spPr>
      </p:sp>
      <p:sp>
        <p:nvSpPr>
          <p:cNvPr id="19" name="Text 17"/>
          <p:cNvSpPr/>
          <p:nvPr/>
        </p:nvSpPr>
        <p:spPr>
          <a:xfrm>
            <a:off x="9862899" y="2303502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EmergencyKiosk</a:t>
            </a:r>
            <a:endParaRPr lang="en-US" sz="2150" dirty="0"/>
          </a:p>
        </p:txBody>
      </p:sp>
      <p:sp>
        <p:nvSpPr>
          <p:cNvPr id="20" name="Text 18"/>
          <p:cNvSpPr/>
          <p:nvPr/>
        </p:nvSpPr>
        <p:spPr>
          <a:xfrm>
            <a:off x="9862899" y="2784158"/>
            <a:ext cx="37628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KIOSK-E01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9862899" y="3270290"/>
            <a:ext cx="37628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Dispenser: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RoboticArmDispenser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9862899" y="3756422"/>
            <a:ext cx="37628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Pricing: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EmergencyPricing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9862899" y="4242554"/>
            <a:ext cx="37628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Policy: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EmergencyInventory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9862899" y="4728686"/>
            <a:ext cx="37628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Verify: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EmergencyVerification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781407" y="5553432"/>
            <a:ext cx="13067586" cy="2059900"/>
          </a:xfrm>
          <a:prstGeom prst="roundRect">
            <a:avLst>
              <a:gd name="adj" fmla="val 1626"/>
            </a:avLst>
          </a:prstGeom>
          <a:solidFill>
            <a:srgbClr val="022349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49" y="5859066"/>
            <a:ext cx="348853" cy="279083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576745" y="5828943"/>
            <a:ext cx="7533323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OPTIONAL HARDWARE MODULES (Decorator Pattern)</a:t>
            </a:r>
            <a:endParaRPr lang="en-US" sz="2150" dirty="0"/>
          </a:p>
        </p:txBody>
      </p:sp>
      <p:sp>
        <p:nvSpPr>
          <p:cNvPr id="28" name="Text 25"/>
          <p:cNvSpPr/>
          <p:nvPr/>
        </p:nvSpPr>
        <p:spPr>
          <a:xfrm>
            <a:off x="1576745" y="6397585"/>
            <a:ext cx="120490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Attached at runtime, zero base-class modification</a:t>
            </a:r>
            <a:endParaRPr lang="en-US" sz="1750" dirty="0"/>
          </a:p>
        </p:txBody>
      </p:sp>
      <p:sp>
        <p:nvSpPr>
          <p:cNvPr id="29" name="Text 26"/>
          <p:cNvSpPr/>
          <p:nvPr/>
        </p:nvSpPr>
        <p:spPr>
          <a:xfrm>
            <a:off x="1576745" y="6949678"/>
            <a:ext cx="120490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❄️</a:t>
            </a: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RefrigerationUnit | 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☀️</a:t>
            </a: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SolarPowerMonitoring | 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📡</a:t>
            </a: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NetworkConnectivity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587573"/>
            <a:ext cx="13141881" cy="132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HARDWARE ABSTRACTION + PAYMENT INTEGRATION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44260" y="2414826"/>
            <a:ext cx="3508534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CFF5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Bridge Pattern (REQ-1)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744260" y="2826782"/>
            <a:ext cx="3189565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DispenserAbstraction</a:t>
            </a:r>
            <a:endParaRPr lang="en-US" sz="2050" dirty="0"/>
          </a:p>
        </p:txBody>
      </p:sp>
      <p:sp>
        <p:nvSpPr>
          <p:cNvPr id="5" name="Shape 3"/>
          <p:cNvSpPr/>
          <p:nvPr/>
        </p:nvSpPr>
        <p:spPr>
          <a:xfrm>
            <a:off x="744260" y="3383280"/>
            <a:ext cx="2729152" cy="1994059"/>
          </a:xfrm>
          <a:prstGeom prst="roundRect">
            <a:avLst>
              <a:gd name="adj" fmla="val 1600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0345" y="3616222"/>
            <a:ext cx="2585085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SpiralDispenser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979765" y="4204394"/>
            <a:ext cx="2585085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Dispensing via spiral mechanism at speed 3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3690937" y="3347085"/>
            <a:ext cx="3346965" cy="1994059"/>
          </a:xfrm>
          <a:prstGeom prst="roundRect">
            <a:avLst>
              <a:gd name="adj" fmla="val 1600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2388" y="3646526"/>
            <a:ext cx="3020021" cy="664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RoboticArmDispenser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3900070" y="4234736"/>
            <a:ext cx="2867916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Dispensing with precision 0.95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44260" y="5576649"/>
            <a:ext cx="6311622" cy="1332190"/>
          </a:xfrm>
          <a:prstGeom prst="roundRect">
            <a:avLst>
              <a:gd name="adj" fmla="val 2394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9765" y="5812155"/>
            <a:ext cx="2711172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ConveyorDispenser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979765" y="6343769"/>
            <a:ext cx="5840611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Dispensing via belt at speed 5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44260" y="7133034"/>
            <a:ext cx="6311622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hardware types swapped • 0 kiosk code changes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582138" y="2414826"/>
            <a:ext cx="3667958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CFF5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Adapter Pattern (REQ-4)</a:t>
            </a:r>
            <a:endParaRPr lang="en-US" sz="2050" dirty="0"/>
          </a:p>
        </p:txBody>
      </p:sp>
      <p:sp>
        <p:nvSpPr>
          <p:cNvPr id="16" name="Text 14"/>
          <p:cNvSpPr/>
          <p:nvPr/>
        </p:nvSpPr>
        <p:spPr>
          <a:xfrm>
            <a:off x="7582138" y="2826782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PaymentProcessor</a:t>
            </a:r>
            <a:endParaRPr lang="en-US" sz="2050" dirty="0"/>
          </a:p>
        </p:txBody>
      </p:sp>
      <p:sp>
        <p:nvSpPr>
          <p:cNvPr id="17" name="Shape 15"/>
          <p:cNvSpPr/>
          <p:nvPr/>
        </p:nvSpPr>
        <p:spPr>
          <a:xfrm>
            <a:off x="7582137" y="3383280"/>
            <a:ext cx="3189565" cy="1994059"/>
          </a:xfrm>
          <a:prstGeom prst="roundRect">
            <a:avLst>
              <a:gd name="adj" fmla="val 1600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16644" y="3699269"/>
            <a:ext cx="3055058" cy="50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CreditCardAdapter</a:t>
            </a:r>
            <a:endParaRPr lang="en-US" sz="2050" dirty="0"/>
          </a:p>
        </p:txBody>
      </p:sp>
      <p:sp>
        <p:nvSpPr>
          <p:cNvPr id="19" name="Text 17"/>
          <p:cNvSpPr/>
          <p:nvPr/>
        </p:nvSpPr>
        <p:spPr>
          <a:xfrm>
            <a:off x="7884376" y="4311133"/>
            <a:ext cx="2585085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₹250.0 — AUTH-7399 • card ending 1111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1007209" y="3383280"/>
            <a:ext cx="2886551" cy="1994059"/>
          </a:xfrm>
          <a:prstGeom prst="roundRect">
            <a:avLst>
              <a:gd name="adj" fmla="val 1600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73051" y="3684688"/>
            <a:ext cx="2585204" cy="427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  UPIAdapter</a:t>
            </a:r>
            <a:endParaRPr lang="en-US" sz="2050" dirty="0"/>
          </a:p>
        </p:txBody>
      </p:sp>
      <p:sp>
        <p:nvSpPr>
          <p:cNvPr id="22" name="Text 20"/>
          <p:cNvSpPr/>
          <p:nvPr/>
        </p:nvSpPr>
        <p:spPr>
          <a:xfrm>
            <a:off x="11073051" y="4311133"/>
            <a:ext cx="258520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5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₹180.0 — UPI Ref: UPI-669356 • </a:t>
            </a: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user@upi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7582138" y="5576649"/>
            <a:ext cx="6311622" cy="1332190"/>
          </a:xfrm>
          <a:prstGeom prst="roundRect">
            <a:avLst>
              <a:gd name="adj" fmla="val 2394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17644" y="5812155"/>
            <a:ext cx="3189565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DigitalWalletAdapter</a:t>
            </a:r>
            <a:endParaRPr lang="en-US" sz="2050" dirty="0"/>
          </a:p>
        </p:txBody>
      </p:sp>
      <p:sp>
        <p:nvSpPr>
          <p:cNvPr id="25" name="Text 23"/>
          <p:cNvSpPr/>
          <p:nvPr/>
        </p:nvSpPr>
        <p:spPr>
          <a:xfrm>
            <a:off x="7817644" y="6343769"/>
            <a:ext cx="5840611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₹150.0 — WAL-444793 • user@wallet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582138" y="7133034"/>
            <a:ext cx="6311622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provider = 1 new class • 0 existing code changes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6079"/>
            <a:ext cx="119085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SECURE INVENTORY + BUNDLE HIERARCHY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91834"/>
            <a:ext cx="47614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FF5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Proxy Pattern (REQ-2, REQ-7)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7368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InventoryProxy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4859" y="3494310"/>
            <a:ext cx="6244709" cy="198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USER: SYSTEM → ✓ AUTHORIZED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USER: UNAUTHORIZED_USER → ✗ ACCESS DENIED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USER: ADMIN → ✓ AUTHORIZED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USER: SYSTEM (EMERGENCY) → </a:t>
            </a:r>
            <a:r>
              <a:rPr lang="en-US" sz="1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⚠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RESTRICTED WRITE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2291834"/>
            <a:ext cx="425124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FF5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Composite Pattern (REQ-5)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2736890"/>
            <a:ext cx="35710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Composite Bundle Tree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599521" y="3346371"/>
            <a:ext cx="6244709" cy="2993946"/>
          </a:xfrm>
          <a:prstGeom prst="roundRect">
            <a:avLst>
              <a:gd name="adj" fmla="val 1136"/>
            </a:avLst>
          </a:prstGeom>
          <a:solidFill>
            <a:srgbClr val="2E2E2E"/>
          </a:solidFill>
          <a:ln/>
        </p:spPr>
      </p:sp>
      <p:sp>
        <p:nvSpPr>
          <p:cNvPr id="9" name="Shape 7"/>
          <p:cNvSpPr/>
          <p:nvPr/>
        </p:nvSpPr>
        <p:spPr>
          <a:xfrm>
            <a:off x="7588210" y="3346371"/>
            <a:ext cx="6267331" cy="2993946"/>
          </a:xfrm>
          <a:prstGeom prst="roundRect">
            <a:avLst>
              <a:gd name="adj" fmla="val 1136"/>
            </a:avLst>
          </a:prstGeom>
          <a:solidFill>
            <a:srgbClr val="2E2E2E"/>
          </a:solidFill>
          <a:ln/>
        </p:spPr>
      </p:sp>
      <p:sp>
        <p:nvSpPr>
          <p:cNvPr id="10" name="Text 8"/>
          <p:cNvSpPr/>
          <p:nvPr/>
        </p:nvSpPr>
        <p:spPr>
          <a:xfrm>
            <a:off x="7871698" y="3573185"/>
            <a:ext cx="5700355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EE787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EmergencyKit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EE787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FirstAidKit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EE787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Bandages (stock: 5)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EE787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Antiseptic (stock: 0→3)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EE787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Gauze (stock: 10)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EE787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WaterBottle (stock: 8)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EE787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Flashlight (stock: 2)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685061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isAvailable() cascades: if Antiseptic=0 → FirstAidKit=false → EmergencyKit=false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642580"/>
            <a:ext cx="7251144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 SIMULATION SCENARIOS</a:t>
            </a:r>
            <a:endParaRPr lang="en-US" sz="4300" dirty="0"/>
          </a:p>
        </p:txBody>
      </p:sp>
      <p:sp>
        <p:nvSpPr>
          <p:cNvPr id="3" name="Shape 1"/>
          <p:cNvSpPr/>
          <p:nvPr/>
        </p:nvSpPr>
        <p:spPr>
          <a:xfrm>
            <a:off x="769025" y="1754862"/>
            <a:ext cx="4222194" cy="5832158"/>
          </a:xfrm>
          <a:prstGeom prst="roundRect">
            <a:avLst>
              <a:gd name="adj" fmla="val 781"/>
            </a:avLst>
          </a:prstGeom>
          <a:solidFill>
            <a:srgbClr val="404040"/>
          </a:solidFill>
          <a:ln/>
        </p:spPr>
      </p:sp>
      <p:sp>
        <p:nvSpPr>
          <p:cNvPr id="4" name="Text 2"/>
          <p:cNvSpPr/>
          <p:nvPr/>
        </p:nvSpPr>
        <p:spPr>
          <a:xfrm>
            <a:off x="988695" y="1974533"/>
            <a:ext cx="3782854" cy="686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SCENARIO 01: Hardware Module Attachment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988695" y="2788682"/>
            <a:ext cx="3782854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KIOSK-F01 | FoodKiosk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88695" y="3262432"/>
            <a:ext cx="3782854" cy="4104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Bridge: SpiralDispenser → RoboticArm → Conveyor (0 code changes)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Proxy: UNAUTHORIZED_USER blocked, ADMIN authorized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Decorator: RefrigerationUnit attached → ColdDrink unlocked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Command: TXN-001 ColdDrink, TXN-002 WaterBottle × 2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Atomic: OutOfStockItem (0 stock) — payment NOT charged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203984" y="1754862"/>
            <a:ext cx="4222313" cy="5832158"/>
          </a:xfrm>
          <a:prstGeom prst="roundRect">
            <a:avLst>
              <a:gd name="adj" fmla="val 781"/>
            </a:avLst>
          </a:prstGeom>
          <a:solidFill>
            <a:srgbClr val="404040"/>
          </a:solidFill>
          <a:ln/>
        </p:spPr>
      </p:sp>
      <p:sp>
        <p:nvSpPr>
          <p:cNvPr id="8" name="Text 6"/>
          <p:cNvSpPr/>
          <p:nvPr/>
        </p:nvSpPr>
        <p:spPr>
          <a:xfrm>
            <a:off x="5423654" y="1974533"/>
            <a:ext cx="4435078" cy="1029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SCENARIO 02: New Payment Provider Integration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5546318" y="2785824"/>
            <a:ext cx="3782973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KIOSK-P01 | PharmacyKiosk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23653" y="3266277"/>
            <a:ext cx="3782973" cy="341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Adapter: CreditCard → UPI → DigitalWallet unified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DigitalWalletAdapter added (1 class, 0 existing changes)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TXN-003: Paracetamol via DigitalWallet — APPROVED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SpiralDispenser via Bridge pattern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Factory: PrescriptionVerification + ControlledInventory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639062" y="1754862"/>
            <a:ext cx="4222313" cy="5832158"/>
          </a:xfrm>
          <a:prstGeom prst="roundRect">
            <a:avLst>
              <a:gd name="adj" fmla="val 781"/>
            </a:avLst>
          </a:prstGeom>
          <a:solidFill>
            <a:srgbClr val="404040"/>
          </a:solidFill>
          <a:ln/>
        </p:spPr>
      </p:sp>
      <p:sp>
        <p:nvSpPr>
          <p:cNvPr id="12" name="Text 10"/>
          <p:cNvSpPr/>
          <p:nvPr/>
        </p:nvSpPr>
        <p:spPr>
          <a:xfrm>
            <a:off x="9858732" y="1974533"/>
            <a:ext cx="3782973" cy="686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SCENARIO 03: Nested Bundle Availability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9858732" y="2788682"/>
            <a:ext cx="3782973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KIOSK-E01 | EmergencyKiosk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858732" y="3262432"/>
            <a:ext cx="3782973" cy="3758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Composite: EmergencyKit total = ₹103.0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Antiseptic stock→0: Kit unavailable, cascades up tree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Emergency mode: PROXY blocks writes, allows reads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Restock Antiseptic → Kit available again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Persistence: saved to transactions.json + inventory.json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8291" y="538401"/>
            <a:ext cx="5247084" cy="52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REQUIREMENTS COVERAGE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1568291" y="1303496"/>
            <a:ext cx="5685711" cy="1203841"/>
          </a:xfrm>
          <a:prstGeom prst="roundRect">
            <a:avLst>
              <a:gd name="adj" fmla="val 9115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45431" y="1303496"/>
            <a:ext cx="91440" cy="1203841"/>
          </a:xfrm>
          <a:prstGeom prst="roundRect">
            <a:avLst>
              <a:gd name="adj" fmla="val 27326"/>
            </a:avLst>
          </a:prstGeom>
          <a:solidFill>
            <a:srgbClr val="DCFF50"/>
          </a:solidFill>
          <a:ln/>
        </p:spPr>
      </p:sp>
      <p:sp>
        <p:nvSpPr>
          <p:cNvPr id="5" name="Text 3"/>
          <p:cNvSpPr/>
          <p:nvPr/>
        </p:nvSpPr>
        <p:spPr>
          <a:xfrm>
            <a:off x="1826300" y="1492925"/>
            <a:ext cx="5238274" cy="520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✓ DEMONSTRATED | REQ-1 Hardware Abstraction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6300" y="2086808"/>
            <a:ext cx="5238274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Pattern: Bridge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76279" y="1303496"/>
            <a:ext cx="5685711" cy="1203841"/>
          </a:xfrm>
          <a:prstGeom prst="roundRect">
            <a:avLst>
              <a:gd name="adj" fmla="val 9115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53419" y="1303496"/>
            <a:ext cx="91440" cy="1203841"/>
          </a:xfrm>
          <a:prstGeom prst="roundRect">
            <a:avLst>
              <a:gd name="adj" fmla="val 27326"/>
            </a:avLst>
          </a:prstGeom>
          <a:solidFill>
            <a:srgbClr val="DCFF50"/>
          </a:solidFill>
          <a:ln/>
        </p:spPr>
      </p:sp>
      <p:sp>
        <p:nvSpPr>
          <p:cNvPr id="9" name="Text 7"/>
          <p:cNvSpPr/>
          <p:nvPr/>
        </p:nvSpPr>
        <p:spPr>
          <a:xfrm>
            <a:off x="7634288" y="1492925"/>
            <a:ext cx="5238274" cy="520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✓ DEMONSTRATED | REQ-2 Secure Inventory Access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34288" y="2086808"/>
            <a:ext cx="5238274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Pattern: Proxy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568291" y="2629614"/>
            <a:ext cx="5685711" cy="1203841"/>
          </a:xfrm>
          <a:prstGeom prst="roundRect">
            <a:avLst>
              <a:gd name="adj" fmla="val 9115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45431" y="2629614"/>
            <a:ext cx="91440" cy="1203841"/>
          </a:xfrm>
          <a:prstGeom prst="roundRect">
            <a:avLst>
              <a:gd name="adj" fmla="val 27326"/>
            </a:avLst>
          </a:prstGeom>
          <a:solidFill>
            <a:srgbClr val="DCFF50"/>
          </a:solidFill>
          <a:ln/>
        </p:spPr>
      </p:sp>
      <p:sp>
        <p:nvSpPr>
          <p:cNvPr id="13" name="Text 11"/>
          <p:cNvSpPr/>
          <p:nvPr/>
        </p:nvSpPr>
        <p:spPr>
          <a:xfrm>
            <a:off x="1826300" y="2819043"/>
            <a:ext cx="5238274" cy="520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✓ DEMONSTRATED | REQ-3 Optional Hardware Modules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26300" y="3412927"/>
            <a:ext cx="5238274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Pattern: Decorator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76279" y="2629614"/>
            <a:ext cx="5685711" cy="1203841"/>
          </a:xfrm>
          <a:prstGeom prst="roundRect">
            <a:avLst>
              <a:gd name="adj" fmla="val 9115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53419" y="2629614"/>
            <a:ext cx="91440" cy="1203841"/>
          </a:xfrm>
          <a:prstGeom prst="roundRect">
            <a:avLst>
              <a:gd name="adj" fmla="val 27326"/>
            </a:avLst>
          </a:prstGeom>
          <a:solidFill>
            <a:srgbClr val="DCFF50"/>
          </a:solidFill>
          <a:ln/>
        </p:spPr>
      </p:sp>
      <p:sp>
        <p:nvSpPr>
          <p:cNvPr id="17" name="Text 15"/>
          <p:cNvSpPr/>
          <p:nvPr/>
        </p:nvSpPr>
        <p:spPr>
          <a:xfrm>
            <a:off x="7634288" y="2819043"/>
            <a:ext cx="5238274" cy="520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✓ DEMONSTRATED | REQ-4 Payment System Integration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34288" y="3412927"/>
            <a:ext cx="5238274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Pattern: Adapter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568291" y="3955732"/>
            <a:ext cx="5685711" cy="1203841"/>
          </a:xfrm>
          <a:prstGeom prst="roundRect">
            <a:avLst>
              <a:gd name="adj" fmla="val 9115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45431" y="3955732"/>
            <a:ext cx="91440" cy="1203841"/>
          </a:xfrm>
          <a:prstGeom prst="roundRect">
            <a:avLst>
              <a:gd name="adj" fmla="val 27326"/>
            </a:avLst>
          </a:prstGeom>
          <a:solidFill>
            <a:srgbClr val="DCFF50"/>
          </a:solidFill>
          <a:ln/>
        </p:spPr>
      </p:sp>
      <p:sp>
        <p:nvSpPr>
          <p:cNvPr id="21" name="Text 19"/>
          <p:cNvSpPr/>
          <p:nvPr/>
        </p:nvSpPr>
        <p:spPr>
          <a:xfrm>
            <a:off x="1826300" y="4145161"/>
            <a:ext cx="5238274" cy="520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✓ DEMONSTRATED | REQ-5 Inventory Bundle Hierarchy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26300" y="4739045"/>
            <a:ext cx="5238274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Pattern: Composite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76279" y="3955732"/>
            <a:ext cx="5685711" cy="1203841"/>
          </a:xfrm>
          <a:prstGeom prst="roundRect">
            <a:avLst>
              <a:gd name="adj" fmla="val 9115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53419" y="3955732"/>
            <a:ext cx="91440" cy="1203841"/>
          </a:xfrm>
          <a:prstGeom prst="roundRect">
            <a:avLst>
              <a:gd name="adj" fmla="val 27326"/>
            </a:avLst>
          </a:prstGeom>
          <a:solidFill>
            <a:srgbClr val="DCFF50"/>
          </a:solidFill>
          <a:ln/>
        </p:spPr>
      </p:sp>
      <p:sp>
        <p:nvSpPr>
          <p:cNvPr id="25" name="Text 23"/>
          <p:cNvSpPr/>
          <p:nvPr/>
        </p:nvSpPr>
        <p:spPr>
          <a:xfrm>
            <a:off x="7634288" y="4145161"/>
            <a:ext cx="5238274" cy="520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✓ DEMONSTRATED | REQ-6 Atomic Transactions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34288" y="4739045"/>
            <a:ext cx="5238274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Pattern: Command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568291" y="5281851"/>
            <a:ext cx="5685711" cy="1203841"/>
          </a:xfrm>
          <a:prstGeom prst="roundRect">
            <a:avLst>
              <a:gd name="adj" fmla="val 9115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45431" y="5281851"/>
            <a:ext cx="91440" cy="1203841"/>
          </a:xfrm>
          <a:prstGeom prst="roundRect">
            <a:avLst>
              <a:gd name="adj" fmla="val 27326"/>
            </a:avLst>
          </a:prstGeom>
          <a:solidFill>
            <a:srgbClr val="DCFF50"/>
          </a:solidFill>
          <a:ln/>
        </p:spPr>
      </p:sp>
      <p:sp>
        <p:nvSpPr>
          <p:cNvPr id="29" name="Text 27"/>
          <p:cNvSpPr/>
          <p:nvPr/>
        </p:nvSpPr>
        <p:spPr>
          <a:xfrm>
            <a:off x="1826300" y="5471279"/>
            <a:ext cx="5238274" cy="520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✓ DEMONSTRATED | REQ-7 Emergency Mode Limits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826300" y="6065163"/>
            <a:ext cx="5238274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Pattern: Proxy + Registry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76279" y="5281851"/>
            <a:ext cx="5685711" cy="1203841"/>
          </a:xfrm>
          <a:prstGeom prst="roundRect">
            <a:avLst>
              <a:gd name="adj" fmla="val 9115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53419" y="5281851"/>
            <a:ext cx="91440" cy="1203841"/>
          </a:xfrm>
          <a:prstGeom prst="roundRect">
            <a:avLst>
              <a:gd name="adj" fmla="val 27326"/>
            </a:avLst>
          </a:prstGeom>
          <a:solidFill>
            <a:srgbClr val="DCFF50"/>
          </a:solidFill>
          <a:ln/>
        </p:spPr>
      </p:sp>
      <p:sp>
        <p:nvSpPr>
          <p:cNvPr id="33" name="Text 31"/>
          <p:cNvSpPr/>
          <p:nvPr/>
        </p:nvSpPr>
        <p:spPr>
          <a:xfrm>
            <a:off x="7634288" y="5471279"/>
            <a:ext cx="5238274" cy="520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✓ DEMONSTRATED | REQ-8 Hardware Dependency Check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34288" y="6065163"/>
            <a:ext cx="5238274" cy="231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Pattern: Decorator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568291" y="6706433"/>
            <a:ext cx="3729276" cy="549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4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10/10</a:t>
            </a:r>
            <a:endParaRPr lang="en-US" sz="4300" dirty="0"/>
          </a:p>
        </p:txBody>
      </p:sp>
      <p:sp>
        <p:nvSpPr>
          <p:cNvPr id="36" name="Text 34"/>
          <p:cNvSpPr/>
          <p:nvPr/>
        </p:nvSpPr>
        <p:spPr>
          <a:xfrm>
            <a:off x="2183963" y="7430929"/>
            <a:ext cx="2497931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Patterns Implemented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50443" y="6706433"/>
            <a:ext cx="3729276" cy="549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4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3/3</a:t>
            </a:r>
            <a:endParaRPr lang="en-US" sz="4300" dirty="0"/>
          </a:p>
        </p:txBody>
      </p:sp>
      <p:sp>
        <p:nvSpPr>
          <p:cNvPr id="38" name="Text 36"/>
          <p:cNvSpPr/>
          <p:nvPr/>
        </p:nvSpPr>
        <p:spPr>
          <a:xfrm>
            <a:off x="6128504" y="7430929"/>
            <a:ext cx="237303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Scenarios Completed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332595" y="6706433"/>
            <a:ext cx="3729276" cy="549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4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8/8</a:t>
            </a:r>
            <a:endParaRPr lang="en-US" sz="4300" dirty="0"/>
          </a:p>
        </p:txBody>
      </p:sp>
      <p:sp>
        <p:nvSpPr>
          <p:cNvPr id="40" name="Text 38"/>
          <p:cNvSpPr/>
          <p:nvPr/>
        </p:nvSpPr>
        <p:spPr>
          <a:xfrm>
            <a:off x="9948267" y="7430929"/>
            <a:ext cx="2497931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Requirements Covered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3737" y="524232"/>
            <a:ext cx="7294126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OOP PRINCIPLES &amp; CONCLUSIONS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323737" y="1332786"/>
            <a:ext cx="5924907" cy="1597223"/>
          </a:xfrm>
          <a:prstGeom prst="roundRect">
            <a:avLst>
              <a:gd name="adj" fmla="val 1631"/>
            </a:avLst>
          </a:prstGeom>
          <a:solidFill>
            <a:srgbClr val="404040"/>
          </a:solidFill>
          <a:ln/>
        </p:spPr>
      </p:sp>
      <p:sp>
        <p:nvSpPr>
          <p:cNvPr id="4" name="Shape 2"/>
          <p:cNvSpPr/>
          <p:nvPr/>
        </p:nvSpPr>
        <p:spPr>
          <a:xfrm>
            <a:off x="1497330" y="1506379"/>
            <a:ext cx="520898" cy="520898"/>
          </a:xfrm>
          <a:prstGeom prst="roundRect">
            <a:avLst>
              <a:gd name="adj" fmla="val 17552545"/>
            </a:avLst>
          </a:prstGeom>
          <a:solidFill>
            <a:srgbClr val="DCFF5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0562" y="1649611"/>
            <a:ext cx="234434" cy="2344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97330" y="2160151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Encapsulation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497330" y="2511147"/>
            <a:ext cx="557772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Proxy controls inventory; Command bundles transaction steps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381518" y="1332786"/>
            <a:ext cx="5925026" cy="1597223"/>
          </a:xfrm>
          <a:prstGeom prst="roundRect">
            <a:avLst>
              <a:gd name="adj" fmla="val 1631"/>
            </a:avLst>
          </a:prstGeom>
          <a:solidFill>
            <a:srgbClr val="404040"/>
          </a:solidFill>
          <a:ln/>
        </p:spPr>
      </p:sp>
      <p:sp>
        <p:nvSpPr>
          <p:cNvPr id="9" name="Shape 6"/>
          <p:cNvSpPr/>
          <p:nvPr/>
        </p:nvSpPr>
        <p:spPr>
          <a:xfrm>
            <a:off x="7555111" y="1506379"/>
            <a:ext cx="520898" cy="520898"/>
          </a:xfrm>
          <a:prstGeom prst="roundRect">
            <a:avLst>
              <a:gd name="adj" fmla="val 17552545"/>
            </a:avLst>
          </a:prstGeom>
          <a:solidFill>
            <a:srgbClr val="DCFF5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98343" y="1649611"/>
            <a:ext cx="234434" cy="2344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55111" y="2160151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Abstraction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555111" y="2511147"/>
            <a:ext cx="5577840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KioskInterface (Facade) hides complexity from external systems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1323737" y="3062883"/>
            <a:ext cx="5924907" cy="1597223"/>
          </a:xfrm>
          <a:prstGeom prst="roundRect">
            <a:avLst>
              <a:gd name="adj" fmla="val 1631"/>
            </a:avLst>
          </a:prstGeom>
          <a:solidFill>
            <a:srgbClr val="404040"/>
          </a:solidFill>
          <a:ln/>
        </p:spPr>
      </p:sp>
      <p:sp>
        <p:nvSpPr>
          <p:cNvPr id="14" name="Shape 10"/>
          <p:cNvSpPr/>
          <p:nvPr/>
        </p:nvSpPr>
        <p:spPr>
          <a:xfrm>
            <a:off x="1497330" y="3236476"/>
            <a:ext cx="520898" cy="520898"/>
          </a:xfrm>
          <a:prstGeom prst="roundRect">
            <a:avLst>
              <a:gd name="adj" fmla="val 17552545"/>
            </a:avLst>
          </a:prstGeom>
          <a:solidFill>
            <a:srgbClr val="DCFF5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40562" y="3379708"/>
            <a:ext cx="234434" cy="23443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97330" y="3890248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Inheritance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497330" y="4241244"/>
            <a:ext cx="5577721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AbstractKioskFactory, InventoryItem base classes extended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381518" y="3062883"/>
            <a:ext cx="5925026" cy="1597223"/>
          </a:xfrm>
          <a:prstGeom prst="roundRect">
            <a:avLst>
              <a:gd name="adj" fmla="val 1631"/>
            </a:avLst>
          </a:prstGeom>
          <a:solidFill>
            <a:srgbClr val="404040"/>
          </a:solidFill>
          <a:ln/>
        </p:spPr>
      </p:sp>
      <p:sp>
        <p:nvSpPr>
          <p:cNvPr id="19" name="Shape 14"/>
          <p:cNvSpPr/>
          <p:nvPr/>
        </p:nvSpPr>
        <p:spPr>
          <a:xfrm>
            <a:off x="7555111" y="3236476"/>
            <a:ext cx="520898" cy="520898"/>
          </a:xfrm>
          <a:prstGeom prst="roundRect">
            <a:avLst>
              <a:gd name="adj" fmla="val 17552545"/>
            </a:avLst>
          </a:prstGeom>
          <a:solidFill>
            <a:srgbClr val="DCFF5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98343" y="3379708"/>
            <a:ext cx="234434" cy="23443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55111" y="3890248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Low Coupling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7555111" y="4241244"/>
            <a:ext cx="5577840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Bridge, Adapter, Observer keep subsystems independent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323737" y="4896445"/>
            <a:ext cx="5908358" cy="573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10</a:t>
            </a:r>
            <a:endParaRPr lang="en-US" sz="4500" dirty="0"/>
          </a:p>
        </p:txBody>
      </p:sp>
      <p:sp>
        <p:nvSpPr>
          <p:cNvPr id="24" name="Text 18"/>
          <p:cNvSpPr/>
          <p:nvPr/>
        </p:nvSpPr>
        <p:spPr>
          <a:xfrm>
            <a:off x="3192542" y="5655945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Design Patterns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7398187" y="4896445"/>
            <a:ext cx="5908358" cy="573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4500" dirty="0"/>
          </a:p>
        </p:txBody>
      </p:sp>
      <p:sp>
        <p:nvSpPr>
          <p:cNvPr id="26" name="Text 20"/>
          <p:cNvSpPr/>
          <p:nvPr/>
        </p:nvSpPr>
        <p:spPr>
          <a:xfrm>
            <a:off x="9266992" y="5655945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Kiosk Types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1323737" y="6279833"/>
            <a:ext cx="5908358" cy="573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8/8</a:t>
            </a:r>
            <a:endParaRPr lang="en-US" sz="4500" dirty="0"/>
          </a:p>
        </p:txBody>
      </p:sp>
      <p:sp>
        <p:nvSpPr>
          <p:cNvPr id="28" name="Text 22"/>
          <p:cNvSpPr/>
          <p:nvPr/>
        </p:nvSpPr>
        <p:spPr>
          <a:xfrm>
            <a:off x="2976086" y="7039332"/>
            <a:ext cx="2603659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Requirements Covered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7398187" y="6279833"/>
            <a:ext cx="5908358" cy="573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4500" dirty="0"/>
          </a:p>
        </p:txBody>
      </p:sp>
      <p:sp>
        <p:nvSpPr>
          <p:cNvPr id="30" name="Text 24"/>
          <p:cNvSpPr/>
          <p:nvPr/>
        </p:nvSpPr>
        <p:spPr>
          <a:xfrm>
            <a:off x="8920282" y="7039332"/>
            <a:ext cx="28640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Scenarios Demonstrated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1323737" y="7460099"/>
            <a:ext cx="11982807" cy="245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Aura Retail OS | Code Crafters | IT620 Object-Oriented Programming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907</Words>
  <Application>Microsoft Office PowerPoint</Application>
  <PresentationFormat>Custom</PresentationFormat>
  <Paragraphs>198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Roboto Mono Medium</vt:lpstr>
      <vt:lpstr>Arial</vt:lpstr>
      <vt:lpstr>Roboto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Gaurang Rahani</dc:creator>
  <cp:lastModifiedBy>Gaurang Rahani</cp:lastModifiedBy>
  <cp:revision>2</cp:revision>
  <dcterms:created xsi:type="dcterms:W3CDTF">2026-04-28T13:18:52Z</dcterms:created>
  <dcterms:modified xsi:type="dcterms:W3CDTF">2026-04-28T13:27:30Z</dcterms:modified>
</cp:coreProperties>
</file>